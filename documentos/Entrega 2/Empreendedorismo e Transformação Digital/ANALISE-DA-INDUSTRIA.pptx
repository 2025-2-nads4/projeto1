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59" r:id="rId6"/>
    <p:sldId id="261" r:id="rId7"/>
  </p:sldIdLst>
  <p:sldSz cx="14630400" cy="8229600"/>
  <p:notesSz cx="82296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3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-5934" y="-3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83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75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0213B-536F-4302-86B6-F7629BB0B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0EE7A7-381A-4AFC-9FAD-57A8974C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288777-7320-4624-889F-B13C8BF7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E4B9C-EF21-47C9-9B03-46E7AF671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8A33A7-B0EC-444D-89D9-F18907F6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4224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39192-2F07-4839-AF42-141BB9F0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43262-128D-4707-98B7-3EF8AA9AE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52C1CB-4517-491A-AB70-B5C7F04C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8BE9B1-E9DD-410B-B114-56F034D4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7B3EA9-C8B2-4C2E-BCF8-A97575C9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8879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54F0C-AED8-4DBA-8954-4BE722DE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3701D7-9940-4B44-B5DA-E54CE866C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CAC0D1-790F-4E16-979E-C73A2B4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EB34C1-9B75-42D3-A561-643E9AEB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FAA23C-3990-4713-9E13-5A0D4EAD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8506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66C7A-1A52-4CE6-A315-E1186C6B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F23417-3C43-42BC-9B40-6AC495844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05846A-16A4-443B-BE2D-DFE57B140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DDF8D9-C789-4F6E-B752-F4E08ECF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351D78-FC78-4A33-9216-DEB847E5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239C1B-082F-457C-8FE0-06D9C72D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5945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D322E-5EAE-4734-B590-850664E8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E8B2E-6DAA-4B54-A700-C7D0B448D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F665AA-76EF-4A04-9727-A8B4F3B89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36EE56-E19E-4DCB-BAC2-7DC009481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13AF60-E607-424E-889B-13ED365A0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F87FEB9-2C4C-4290-9A0B-CE6241EC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4E5182-9391-476B-B77C-7B47FBE2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66EBF5-9991-4587-8C9A-95D7EE91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3797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CFC0B-8D9C-4171-9C27-4A0F60D0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830DF-7C18-468E-B055-A891AF49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22BA88-81F7-49F4-AA40-B58C8257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A0C3EB-E743-41F6-BF8B-170EE3488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2245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9DB6AB-3AE8-4C6A-A813-1DC53919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EF6DAB-EC76-411D-AD00-5D1C2CC3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9F4D09-9487-4D09-B817-9A3A69E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004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B4BA2-835E-4A4C-9836-408630F9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CFABD2-62E3-4577-B4CE-5B352567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6543D0-2590-47D6-9364-95F824349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379597-00B9-4A8F-8C9C-D5DD9326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79CAFA-C89B-41D8-A0E4-619B01E3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F2EE57-8090-4B90-8043-32A0DD3C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8136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D3784-6E91-41A8-AFB1-1F0891C3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33A7AE7-D1BA-4977-A0D8-24311BA69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ACDE8C-A2D1-4336-B6A3-CFAADFDE7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9E5131-AD26-4599-91AF-AB5FED5E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D85EEB-6DA5-44A8-A134-7F29DD5C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4EE14F-FC80-4773-9AFE-A2D82021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0925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F9E22-3C42-47F3-85C6-4ABFD1BD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BE4B42-1A78-43B8-AFD8-C2DB6E50F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C9F3BC-0F07-43A6-A0E4-E0E2FC17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FDC193-20A2-49EE-84B6-47BAF3AC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7B3C35-48E1-40E0-A77D-261E7279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297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B23CE1-D36F-421A-B111-B3F15928E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F6DACD-FE8B-487F-AAD9-FDD18D70C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4A1CE6-AD5A-49D0-8B5E-4FE8FD04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6DFC02-007D-4D83-BA07-E50F8EBA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C610CB-8BB3-4958-B614-725ABCEC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4050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95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062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396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8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9791DA-D7E9-4E9A-A746-4F435C16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4F1FAF-89BD-440C-A62F-1EE6626C5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896811-FA00-485D-A419-ACB1F2708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45DB5-C80F-4B87-8F3F-104FE41001A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0BB342-3EE7-4C1C-887D-744E803CF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34618B-54A0-433A-93B1-4FFDF331A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5294A-9053-42A5-869A-CEDEE0BC7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52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734786" y="5827396"/>
            <a:ext cx="13115568" cy="2219622"/>
          </a:xfrm>
          <a:prstGeom prst="roundRect">
            <a:avLst>
              <a:gd name="adj" fmla="val 4255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716000"/>
            <a:ext cx="14630400" cy="2194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54644" y="6382300"/>
            <a:ext cx="5314932" cy="110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 algn="l">
              <a:lnSpc>
                <a:spcPts val="1750"/>
              </a:lnSpc>
              <a:buFont typeface="+mj-lt"/>
              <a:buAutoNum type="arabicPeriod"/>
            </a:pPr>
            <a:r>
              <a:rPr lang="en-US" dirty="0"/>
              <a:t>Anderson </a:t>
            </a:r>
            <a:r>
              <a:rPr lang="en-US" dirty="0" err="1"/>
              <a:t>Yavi</a:t>
            </a:r>
            <a:r>
              <a:rPr lang="en-US" dirty="0"/>
              <a:t> Fernandez – RA: 24025678</a:t>
            </a:r>
          </a:p>
          <a:p>
            <a:pPr marL="228600" indent="-228600" algn="l">
              <a:lnSpc>
                <a:spcPts val="1750"/>
              </a:lnSpc>
              <a:buFont typeface="+mj-lt"/>
              <a:buAutoNum type="arabicPeriod"/>
            </a:pPr>
            <a:r>
              <a:rPr lang="en-US" dirty="0"/>
              <a:t>Gabriel Gonçalves Pires  - RA: 24026518</a:t>
            </a:r>
          </a:p>
          <a:p>
            <a:pPr marL="228600" indent="-228600" algn="l">
              <a:lnSpc>
                <a:spcPts val="1750"/>
              </a:lnSpc>
              <a:buFont typeface="+mj-lt"/>
              <a:buAutoNum type="arabicPeriod"/>
            </a:pPr>
            <a:r>
              <a:rPr lang="en-US" dirty="0"/>
              <a:t>Isabela Nunes </a:t>
            </a:r>
            <a:r>
              <a:rPr lang="en-US" dirty="0" err="1"/>
              <a:t>Zeferino</a:t>
            </a:r>
            <a:r>
              <a:rPr lang="en-US" dirty="0"/>
              <a:t>  - RA: 24026460</a:t>
            </a:r>
          </a:p>
          <a:p>
            <a:pPr marL="228600" indent="-228600" algn="l">
              <a:lnSpc>
                <a:spcPts val="1750"/>
              </a:lnSpc>
              <a:buFont typeface="+mj-lt"/>
              <a:buAutoNum type="arabicPeriod"/>
            </a:pPr>
            <a:r>
              <a:rPr lang="en-US" dirty="0" err="1"/>
              <a:t>Kaique</a:t>
            </a:r>
            <a:r>
              <a:rPr lang="en-US" dirty="0"/>
              <a:t> </a:t>
            </a:r>
            <a:r>
              <a:rPr lang="en-US" dirty="0" err="1"/>
              <a:t>Neres</a:t>
            </a:r>
            <a:r>
              <a:rPr lang="en-US" dirty="0"/>
              <a:t> de Oliveira  - RA: 24026134</a:t>
            </a:r>
          </a:p>
          <a:p>
            <a:pPr marL="228600" indent="-228600" algn="l">
              <a:lnSpc>
                <a:spcPts val="1750"/>
              </a:lnSpc>
              <a:buFont typeface="+mj-lt"/>
              <a:buAutoNum type="arabicPeriod"/>
            </a:pPr>
            <a:r>
              <a:rPr lang="en-US" dirty="0"/>
              <a:t>Luiz Felipe </a:t>
            </a:r>
            <a:r>
              <a:rPr lang="en-US" dirty="0" err="1"/>
              <a:t>Galdino</a:t>
            </a:r>
            <a:r>
              <a:rPr lang="en-US" dirty="0"/>
              <a:t> de Carvalho – RA: 2402656</a:t>
            </a:r>
          </a:p>
          <a:p>
            <a:pPr algn="l">
              <a:lnSpc>
                <a:spcPts val="1750"/>
              </a:lnSpc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4786" y="6728845"/>
            <a:ext cx="2062282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4400" dirty="0" err="1"/>
              <a:t>Calogic</a:t>
            </a:r>
            <a:endParaRPr lang="en-US" sz="44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40280F38-4C6A-4D49-97EE-81A9745FB3F2}"/>
              </a:ext>
            </a:extLst>
          </p:cNvPr>
          <p:cNvSpPr/>
          <p:nvPr/>
        </p:nvSpPr>
        <p:spPr>
          <a:xfrm>
            <a:off x="780046" y="7492111"/>
            <a:ext cx="3955240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00" dirty="0"/>
              <a:t>Grupo 1 - MARKETADA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2532" y="490061"/>
            <a:ext cx="2062282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ANÁLISE DA INDÚSTRIA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5972532" y="762476"/>
            <a:ext cx="8171736" cy="86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Cenário da Indústria de Business Intelligence no Brasil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972532" y="1839039"/>
            <a:ext cx="8171736" cy="1371005"/>
          </a:xfrm>
          <a:prstGeom prst="roundRect">
            <a:avLst>
              <a:gd name="adj" fmla="val 4255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18979" y="1985486"/>
            <a:ext cx="416719" cy="416719"/>
          </a:xfrm>
          <a:prstGeom prst="roundRect">
            <a:avLst>
              <a:gd name="adj" fmla="val 21940650"/>
            </a:avLst>
          </a:prstGeom>
          <a:solidFill>
            <a:srgbClr val="E6DED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3517" y="2100024"/>
            <a:ext cx="187523" cy="1875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18979" y="2541032"/>
            <a:ext cx="226325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Crescimento Impulsionado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18979" y="2841308"/>
            <a:ext cx="787884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 setor de BI cresce pela transformação digital e necessidade de decisões orientadas por dados.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972532" y="3348871"/>
            <a:ext cx="8171736" cy="1371005"/>
          </a:xfrm>
          <a:prstGeom prst="roundRect">
            <a:avLst>
              <a:gd name="adj" fmla="val 4255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118979" y="3495318"/>
            <a:ext cx="416719" cy="416719"/>
          </a:xfrm>
          <a:prstGeom prst="roundRect">
            <a:avLst>
              <a:gd name="adj" fmla="val 21940650"/>
            </a:avLst>
          </a:prstGeom>
          <a:solidFill>
            <a:srgbClr val="E6DED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3517" y="3609856"/>
            <a:ext cx="187523" cy="1875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18979" y="4050863"/>
            <a:ext cx="173628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Adoção e Desafio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18979" y="4351139"/>
            <a:ext cx="787884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60%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das empresas brasileiras usam ferramentas de dados, mas lutam para mensurar resultados.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972532" y="4858703"/>
            <a:ext cx="8171736" cy="1371005"/>
          </a:xfrm>
          <a:prstGeom prst="roundRect">
            <a:avLst>
              <a:gd name="adj" fmla="val 4255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18979" y="5005149"/>
            <a:ext cx="416719" cy="416719"/>
          </a:xfrm>
          <a:prstGeom prst="roundRect">
            <a:avLst>
              <a:gd name="adj" fmla="val 21940650"/>
            </a:avLst>
          </a:prstGeom>
          <a:solidFill>
            <a:srgbClr val="E6DED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3517" y="5119687"/>
            <a:ext cx="187523" cy="1875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18979" y="5560695"/>
            <a:ext cx="173628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Foco em Inovação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118979" y="5860971"/>
            <a:ext cx="787884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indústria busca soluções mais integradas e inteligentes, com grande destaque para a </a:t>
            </a: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IA generativa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972532" y="6368534"/>
            <a:ext cx="8171736" cy="1371005"/>
          </a:xfrm>
          <a:prstGeom prst="roundRect">
            <a:avLst>
              <a:gd name="adj" fmla="val 4255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118979" y="6514981"/>
            <a:ext cx="416719" cy="416719"/>
          </a:xfrm>
          <a:prstGeom prst="roundRect">
            <a:avLst>
              <a:gd name="adj" fmla="val 21940650"/>
            </a:avLst>
          </a:prstGeom>
          <a:solidFill>
            <a:srgbClr val="E6DED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3517" y="6629519"/>
            <a:ext cx="187523" cy="18752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18979" y="7070527"/>
            <a:ext cx="2044660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Oportunidades de Nicho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118979" y="7370802"/>
            <a:ext cx="787884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Alta competição, mas há espaço em nichos especializados, como mailing e análise de performance de campanhas.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9329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971" y="418028"/>
            <a:ext cx="215586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ANÁLISE DE MERCADO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31971" y="716280"/>
            <a:ext cx="9157454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Oportunidade de Mercado e Segmento de Clientes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531971" y="1590318"/>
            <a:ext cx="7294602" cy="1210270"/>
          </a:xfrm>
          <a:prstGeom prst="roundRect">
            <a:avLst>
              <a:gd name="adj" fmla="val 6044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6731" y="1590318"/>
            <a:ext cx="60960" cy="1210270"/>
          </a:xfrm>
          <a:prstGeom prst="roundRect">
            <a:avLst>
              <a:gd name="adj" fmla="val 104741"/>
            </a:avLst>
          </a:prstGeom>
          <a:solidFill>
            <a:srgbClr val="E6DED2"/>
          </a:solidFill>
          <a:ln/>
        </p:spPr>
      </p:sp>
      <p:sp>
        <p:nvSpPr>
          <p:cNvPr id="6" name="Text 4"/>
          <p:cNvSpPr/>
          <p:nvPr/>
        </p:nvSpPr>
        <p:spPr>
          <a:xfrm>
            <a:off x="744855" y="1757482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Mercado-Alvo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4855" y="2146935"/>
            <a:ext cx="6914555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Empresas de mailing e soluções de dados que precisam mensurar o impacto de suas campanhas.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1971" y="2952512"/>
            <a:ext cx="7294602" cy="1210270"/>
          </a:xfrm>
          <a:prstGeom prst="roundRect">
            <a:avLst>
              <a:gd name="adj" fmla="val 6044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6731" y="2952512"/>
            <a:ext cx="60960" cy="1210270"/>
          </a:xfrm>
          <a:prstGeom prst="roundRect">
            <a:avLst>
              <a:gd name="adj" fmla="val 104741"/>
            </a:avLst>
          </a:prstGeom>
          <a:solidFill>
            <a:srgbClr val="E6DED2"/>
          </a:solidFill>
          <a:ln/>
        </p:spPr>
      </p:sp>
      <p:sp>
        <p:nvSpPr>
          <p:cNvPr id="10" name="Text 8"/>
          <p:cNvSpPr/>
          <p:nvPr/>
        </p:nvSpPr>
        <p:spPr>
          <a:xfrm>
            <a:off x="744855" y="3119676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Problema Central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4855" y="3509129"/>
            <a:ext cx="6914555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Falta de integração entre dados de mailing, performance e insights estratégicos para tomada de decisão.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1971" y="4314706"/>
            <a:ext cx="7294602" cy="967026"/>
          </a:xfrm>
          <a:prstGeom prst="roundRect">
            <a:avLst>
              <a:gd name="adj" fmla="val 7565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731" y="4314706"/>
            <a:ext cx="60960" cy="967026"/>
          </a:xfrm>
          <a:prstGeom prst="roundRect">
            <a:avLst>
              <a:gd name="adj" fmla="val 104741"/>
            </a:avLst>
          </a:prstGeom>
          <a:solidFill>
            <a:srgbClr val="E6DED2"/>
          </a:solidFill>
          <a:ln/>
        </p:spPr>
      </p:sp>
      <p:sp>
        <p:nvSpPr>
          <p:cNvPr id="14" name="Text 12"/>
          <p:cNvSpPr/>
          <p:nvPr/>
        </p:nvSpPr>
        <p:spPr>
          <a:xfrm>
            <a:off x="744855" y="4481870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Proposta de Valor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4855" y="4871323"/>
            <a:ext cx="6914555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Transformar dados dispersos em inteligência acionável e insights automáticos.</a:t>
            </a:r>
            <a:endParaRPr lang="en-US" sz="11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954" y="1590318"/>
            <a:ext cx="5900976" cy="59009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78093" y="5821381"/>
            <a:ext cx="3220522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 Solução: BI + IA Generativa</a:t>
            </a:r>
            <a:endParaRPr lang="en-US" sz="17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091" y="7753408"/>
            <a:ext cx="228005" cy="22800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01051" y="7745907"/>
            <a:ext cx="3901559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Mensurar o impacto real das campanhas.</a:t>
            </a:r>
            <a:endParaRPr lang="en-US" sz="11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9545" y="7753408"/>
            <a:ext cx="228005" cy="22800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86505" y="7745907"/>
            <a:ext cx="3901559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Gerar insights automáticos e preditivos.</a:t>
            </a:r>
            <a:endParaRPr lang="en-US" sz="11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4999" y="7753408"/>
            <a:ext cx="228005" cy="22800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71959" y="7745907"/>
            <a:ext cx="3901559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Apoiar o desenvolvimento contínuo de melhorias.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8639" y="540901"/>
            <a:ext cx="2184202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ANÁLISE DE MERCADO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38639" y="842963"/>
            <a:ext cx="8066723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 Cinco Forças de Porter: Setor de Business Intelligence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38639" y="2266712"/>
            <a:ext cx="3956447" cy="1632942"/>
          </a:xfrm>
          <a:prstGeom prst="roundRect">
            <a:avLst>
              <a:gd name="adj" fmla="val 6720"/>
            </a:avLst>
          </a:prstGeom>
          <a:solidFill>
            <a:srgbClr val="FDFBF7"/>
          </a:solidFill>
          <a:ln/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8639" y="2243852"/>
            <a:ext cx="3956447" cy="91440"/>
          </a:xfrm>
          <a:prstGeom prst="roundRect">
            <a:avLst>
              <a:gd name="adj" fmla="val 70701"/>
            </a:avLst>
          </a:prstGeom>
          <a:solidFill>
            <a:srgbClr val="E6DED2"/>
          </a:solidFill>
          <a:ln/>
        </p:spPr>
      </p:sp>
      <p:sp>
        <p:nvSpPr>
          <p:cNvPr id="7" name="Shape 4"/>
          <p:cNvSpPr/>
          <p:nvPr/>
        </p:nvSpPr>
        <p:spPr>
          <a:xfrm>
            <a:off x="2286000" y="2035850"/>
            <a:ext cx="461724" cy="461724"/>
          </a:xfrm>
          <a:prstGeom prst="roundRect">
            <a:avLst>
              <a:gd name="adj" fmla="val 19804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424470" y="2151221"/>
            <a:ext cx="184666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5328" y="2651522"/>
            <a:ext cx="2844522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Rivalidade entre Concorrentes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5328" y="2984302"/>
            <a:ext cx="3603069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Alta:</a:t>
            </a: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Grandes players dominam, mas há espaço em nichos específicos como mailing e análise de campanhas.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48914" y="2266712"/>
            <a:ext cx="3956447" cy="1632942"/>
          </a:xfrm>
          <a:prstGeom prst="roundRect">
            <a:avLst>
              <a:gd name="adj" fmla="val 6720"/>
            </a:avLst>
          </a:prstGeom>
          <a:solidFill>
            <a:srgbClr val="FDFBF7"/>
          </a:solidFill>
          <a:ln/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8914" y="2243852"/>
            <a:ext cx="3956447" cy="91440"/>
          </a:xfrm>
          <a:prstGeom prst="roundRect">
            <a:avLst>
              <a:gd name="adj" fmla="val 70701"/>
            </a:avLst>
          </a:prstGeom>
          <a:solidFill>
            <a:srgbClr val="E6DED2"/>
          </a:solidFill>
          <a:ln/>
        </p:spPr>
      </p:sp>
      <p:sp>
        <p:nvSpPr>
          <p:cNvPr id="13" name="Shape 10"/>
          <p:cNvSpPr/>
          <p:nvPr/>
        </p:nvSpPr>
        <p:spPr>
          <a:xfrm>
            <a:off x="6396276" y="2035850"/>
            <a:ext cx="461724" cy="461724"/>
          </a:xfrm>
          <a:prstGeom prst="roundRect">
            <a:avLst>
              <a:gd name="adj" fmla="val 19804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34745" y="2151221"/>
            <a:ext cx="184666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825603" y="2651522"/>
            <a:ext cx="260044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Ameaça de Novos Entrantes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25603" y="2984302"/>
            <a:ext cx="3603069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Moderada:</a:t>
            </a: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Barreira tecnológica média, impulsionada por APIs e IA, mas exige consolidação de marca e confiança.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8639" y="4284345"/>
            <a:ext cx="3956447" cy="1632942"/>
          </a:xfrm>
          <a:prstGeom prst="roundRect">
            <a:avLst>
              <a:gd name="adj" fmla="val 6720"/>
            </a:avLst>
          </a:prstGeom>
          <a:solidFill>
            <a:srgbClr val="FDFBF7"/>
          </a:solidFill>
          <a:ln/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8639" y="4261485"/>
            <a:ext cx="3956447" cy="91440"/>
          </a:xfrm>
          <a:prstGeom prst="roundRect">
            <a:avLst>
              <a:gd name="adj" fmla="val 70701"/>
            </a:avLst>
          </a:prstGeom>
          <a:solidFill>
            <a:srgbClr val="E6DED2"/>
          </a:solidFill>
          <a:ln/>
        </p:spPr>
      </p:sp>
      <p:sp>
        <p:nvSpPr>
          <p:cNvPr id="19" name="Shape 16"/>
          <p:cNvSpPr/>
          <p:nvPr/>
        </p:nvSpPr>
        <p:spPr>
          <a:xfrm>
            <a:off x="2286000" y="4053483"/>
            <a:ext cx="461724" cy="461724"/>
          </a:xfrm>
          <a:prstGeom prst="roundRect">
            <a:avLst>
              <a:gd name="adj" fmla="val 19804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2424470" y="4168854"/>
            <a:ext cx="184666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15328" y="4669155"/>
            <a:ext cx="2940368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Poder de Barganha dos Clientes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5328" y="5001935"/>
            <a:ext cx="3603069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Alto:</a:t>
            </a: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Clientes buscam soluções custo-benefício e integração fácil, dispostos a trocar de fornecedor se o valor não for claro.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48914" y="4284345"/>
            <a:ext cx="3956447" cy="1632942"/>
          </a:xfrm>
          <a:prstGeom prst="roundRect">
            <a:avLst>
              <a:gd name="adj" fmla="val 6720"/>
            </a:avLst>
          </a:prstGeom>
          <a:solidFill>
            <a:srgbClr val="FDFBF7"/>
          </a:solidFill>
          <a:ln/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48914" y="4261485"/>
            <a:ext cx="3956447" cy="91440"/>
          </a:xfrm>
          <a:prstGeom prst="roundRect">
            <a:avLst>
              <a:gd name="adj" fmla="val 70701"/>
            </a:avLst>
          </a:prstGeom>
          <a:solidFill>
            <a:srgbClr val="E6DED2"/>
          </a:solidFill>
          <a:ln/>
        </p:spPr>
      </p:sp>
      <p:sp>
        <p:nvSpPr>
          <p:cNvPr id="25" name="Shape 22"/>
          <p:cNvSpPr/>
          <p:nvPr/>
        </p:nvSpPr>
        <p:spPr>
          <a:xfrm>
            <a:off x="6396276" y="4053483"/>
            <a:ext cx="461724" cy="461724"/>
          </a:xfrm>
          <a:prstGeom prst="roundRect">
            <a:avLst>
              <a:gd name="adj" fmla="val 19804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534745" y="4168854"/>
            <a:ext cx="184666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4825603" y="4669155"/>
            <a:ext cx="3465076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Poder de Barganha dos Fornecedores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825603" y="5001935"/>
            <a:ext cx="3603069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Baixo a Moderado:</a:t>
            </a: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Múltiplas opções de infraestrutura (nuvem, software, dados) no mercado.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38639" y="6301978"/>
            <a:ext cx="8066723" cy="1386721"/>
          </a:xfrm>
          <a:prstGeom prst="roundRect">
            <a:avLst>
              <a:gd name="adj" fmla="val 7913"/>
            </a:avLst>
          </a:prstGeom>
          <a:solidFill>
            <a:srgbClr val="FDFBF7"/>
          </a:solidFill>
          <a:ln/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38639" y="6279118"/>
            <a:ext cx="8066723" cy="91440"/>
          </a:xfrm>
          <a:prstGeom prst="roundRect">
            <a:avLst>
              <a:gd name="adj" fmla="val 70701"/>
            </a:avLst>
          </a:prstGeom>
          <a:solidFill>
            <a:srgbClr val="E6DED2"/>
          </a:solidFill>
          <a:ln/>
        </p:spPr>
      </p:sp>
      <p:sp>
        <p:nvSpPr>
          <p:cNvPr id="31" name="Shape 28"/>
          <p:cNvSpPr/>
          <p:nvPr/>
        </p:nvSpPr>
        <p:spPr>
          <a:xfrm>
            <a:off x="4341138" y="6071116"/>
            <a:ext cx="461724" cy="461724"/>
          </a:xfrm>
          <a:prstGeom prst="roundRect">
            <a:avLst>
              <a:gd name="adj" fmla="val 19804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479608" y="6186488"/>
            <a:ext cx="184666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715328" y="6686788"/>
            <a:ext cx="2998351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Ameaça de Produtos Substitutos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15328" y="7019568"/>
            <a:ext cx="7713345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Moderada:</a:t>
            </a: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Ferramentas simples ou manuais podem substituir em pequena escala, mas sem a inteligência e automação do BI.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45471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RECURSOS E MODELO DE NEGÓCIO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534352"/>
            <a:ext cx="68666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Recursos-Chave e Estrutura do Modelo de Negócio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589" y="1377381"/>
            <a:ext cx="5648823" cy="35328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14857" y="3044848"/>
            <a:ext cx="2322181" cy="389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Canais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87148" y="4568737"/>
            <a:ext cx="2823703" cy="729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Fluxos de Receita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76912" y="3060907"/>
            <a:ext cx="2322181" cy="77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Atividades-Chave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87148" y="1549817"/>
            <a:ext cx="2823703" cy="729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Recursos-Chave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96835" y="9552861"/>
            <a:ext cx="13836729" cy="15240"/>
          </a:xfrm>
          <a:prstGeom prst="roundRect">
            <a:avLst>
              <a:gd name="adj" fmla="val 312558"/>
            </a:avLst>
          </a:prstGeom>
          <a:solidFill>
            <a:srgbClr val="000000">
              <a:alpha val="8000"/>
            </a:srgbClr>
          </a:solidFill>
          <a:ln/>
        </p:spPr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4412285-71B1-4992-B2A7-DA1A56D64098}"/>
              </a:ext>
            </a:extLst>
          </p:cNvPr>
          <p:cNvGrpSpPr/>
          <p:nvPr/>
        </p:nvGrpSpPr>
        <p:grpSpPr>
          <a:xfrm>
            <a:off x="2015192" y="5601227"/>
            <a:ext cx="255151" cy="281670"/>
            <a:chOff x="3928146" y="6466503"/>
            <a:chExt cx="255151" cy="281670"/>
          </a:xfrm>
        </p:grpSpPr>
        <p:sp>
          <p:nvSpPr>
            <p:cNvPr id="11" name="Shape 8"/>
            <p:cNvSpPr/>
            <p:nvPr/>
          </p:nvSpPr>
          <p:spPr>
            <a:xfrm>
              <a:off x="3928146" y="6466503"/>
              <a:ext cx="255151" cy="255151"/>
            </a:xfrm>
            <a:prstGeom prst="roundRect">
              <a:avLst>
                <a:gd name="adj" fmla="val 18669"/>
              </a:avLst>
            </a:prstGeom>
            <a:solidFill>
              <a:srgbClr val="E6DED2">
                <a:alpha val="50000"/>
              </a:srgbClr>
            </a:solidFill>
            <a:ln w="7620">
              <a:solidFill>
                <a:srgbClr val="CCC4B8"/>
              </a:solidFill>
              <a:prstDash val="solid"/>
            </a:ln>
            <a:effectLst>
              <a:outerShdw dist="10160" dir="2700000" algn="bl" rotWithShape="0">
                <a:srgbClr val="CCC4B8">
                  <a:alpha val="100000"/>
                </a:srgbClr>
              </a:outerShdw>
            </a:effectLst>
          </p:spPr>
        </p:sp>
        <p:sp>
          <p:nvSpPr>
            <p:cNvPr id="12" name="Text 9"/>
            <p:cNvSpPr/>
            <p:nvPr/>
          </p:nvSpPr>
          <p:spPr>
            <a:xfrm>
              <a:off x="3982514" y="6535527"/>
              <a:ext cx="170021" cy="2126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00"/>
                </a:lnSpc>
                <a:buNone/>
              </a:pPr>
              <a:r>
                <a:rPr lang="en-US" sz="1300" dirty="0">
                  <a:solidFill>
                    <a:srgbClr val="000000"/>
                  </a:solidFill>
                  <a:latin typeface="Noto Serif Medium" pitchFamily="34" charset="0"/>
                  <a:ea typeface="Noto Serif Medium" pitchFamily="34" charset="-122"/>
                  <a:cs typeface="Noto Serif Medium" pitchFamily="34" charset="-120"/>
                </a:rPr>
                <a:t>1</a:t>
              </a:r>
              <a:endParaRPr lang="en-US" sz="130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1433989" y="611402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Recursos-Chave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3150" y="6440399"/>
            <a:ext cx="522291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Equipe técnica especializada (BI e IA).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3151" y="6721164"/>
            <a:ext cx="522291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Software e infraestrutura tecnológica robusta.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3152" y="6979383"/>
            <a:ext cx="522291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Parcerias estratégicas (FECAP, Cannoli, Tico AR, InPark).</a:t>
            </a:r>
            <a:endParaRPr lang="en-US" sz="1050" dirty="0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F5BCB621-C1E7-4DDA-A638-B2C1874A81E8}"/>
              </a:ext>
            </a:extLst>
          </p:cNvPr>
          <p:cNvGrpSpPr/>
          <p:nvPr/>
        </p:nvGrpSpPr>
        <p:grpSpPr>
          <a:xfrm>
            <a:off x="6239732" y="5590593"/>
            <a:ext cx="255151" cy="269278"/>
            <a:chOff x="6748415" y="6569728"/>
            <a:chExt cx="255151" cy="269278"/>
          </a:xfrm>
        </p:grpSpPr>
        <p:sp>
          <p:nvSpPr>
            <p:cNvPr id="18" name="Shape 15"/>
            <p:cNvSpPr/>
            <p:nvPr/>
          </p:nvSpPr>
          <p:spPr>
            <a:xfrm>
              <a:off x="6748415" y="6569728"/>
              <a:ext cx="255151" cy="255151"/>
            </a:xfrm>
            <a:prstGeom prst="roundRect">
              <a:avLst>
                <a:gd name="adj" fmla="val 18669"/>
              </a:avLst>
            </a:prstGeom>
            <a:solidFill>
              <a:srgbClr val="E6DED2">
                <a:alpha val="50000"/>
              </a:srgbClr>
            </a:solidFill>
            <a:ln w="7620">
              <a:solidFill>
                <a:srgbClr val="CCC4B8"/>
              </a:solidFill>
              <a:prstDash val="solid"/>
            </a:ln>
            <a:effectLst>
              <a:outerShdw dist="10160" dir="2700000" algn="bl" rotWithShape="0">
                <a:srgbClr val="CCC4B8">
                  <a:alpha val="100000"/>
                </a:srgbClr>
              </a:outerShdw>
            </a:effectLst>
          </p:spPr>
        </p:sp>
        <p:sp>
          <p:nvSpPr>
            <p:cNvPr id="19" name="Text 16"/>
            <p:cNvSpPr/>
            <p:nvPr/>
          </p:nvSpPr>
          <p:spPr>
            <a:xfrm>
              <a:off x="6790979" y="6626360"/>
              <a:ext cx="170021" cy="2126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00"/>
                </a:lnSpc>
                <a:buNone/>
              </a:pPr>
              <a:r>
                <a:rPr lang="en-US" sz="1300" dirty="0">
                  <a:solidFill>
                    <a:srgbClr val="000000"/>
                  </a:solidFill>
                  <a:latin typeface="Noto Serif Medium" pitchFamily="34" charset="0"/>
                  <a:ea typeface="Noto Serif Medium" pitchFamily="34" charset="-122"/>
                  <a:cs typeface="Noto Serif Medium" pitchFamily="34" charset="-120"/>
                </a:rPr>
                <a:t>2</a:t>
              </a:r>
              <a:endParaRPr lang="en-US" sz="1300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5637038" y="6065971"/>
            <a:ext cx="146054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Atividades Principais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39116" y="6438063"/>
            <a:ext cx="522303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Desenvolvimento tecnológico e consultoria em BI.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39116" y="6739443"/>
            <a:ext cx="522303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Geração de insights e relatórios de impacto.</a:t>
            </a:r>
            <a:endParaRPr lang="en-US" sz="1050" dirty="0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8A6A33EF-7C72-4FF6-BC71-CA7778B151CC}"/>
              </a:ext>
            </a:extLst>
          </p:cNvPr>
          <p:cNvGrpSpPr/>
          <p:nvPr/>
        </p:nvGrpSpPr>
        <p:grpSpPr>
          <a:xfrm>
            <a:off x="9711140" y="5586318"/>
            <a:ext cx="255151" cy="261211"/>
            <a:chOff x="9539106" y="6056009"/>
            <a:chExt cx="255151" cy="261211"/>
          </a:xfrm>
        </p:grpSpPr>
        <p:sp>
          <p:nvSpPr>
            <p:cNvPr id="24" name="Shape 21"/>
            <p:cNvSpPr/>
            <p:nvPr/>
          </p:nvSpPr>
          <p:spPr>
            <a:xfrm>
              <a:off x="9539106" y="6056009"/>
              <a:ext cx="255151" cy="255151"/>
            </a:xfrm>
            <a:prstGeom prst="roundRect">
              <a:avLst>
                <a:gd name="adj" fmla="val 18669"/>
              </a:avLst>
            </a:prstGeom>
            <a:solidFill>
              <a:srgbClr val="E6DED2">
                <a:alpha val="50000"/>
              </a:srgbClr>
            </a:solidFill>
            <a:ln w="7620">
              <a:solidFill>
                <a:srgbClr val="CCC4B8"/>
              </a:solidFill>
              <a:prstDash val="solid"/>
            </a:ln>
            <a:effectLst>
              <a:outerShdw dist="10160" dir="2700000" algn="bl" rotWithShape="0">
                <a:srgbClr val="CCC4B8">
                  <a:alpha val="100000"/>
                </a:srgbClr>
              </a:outerShdw>
            </a:effectLst>
          </p:spPr>
        </p:sp>
        <p:sp>
          <p:nvSpPr>
            <p:cNvPr id="25" name="Text 22"/>
            <p:cNvSpPr/>
            <p:nvPr/>
          </p:nvSpPr>
          <p:spPr>
            <a:xfrm>
              <a:off x="9586746" y="6104574"/>
              <a:ext cx="170021" cy="2126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00"/>
                </a:lnSpc>
                <a:buNone/>
              </a:pPr>
              <a:r>
                <a:rPr lang="en-US" sz="1300" dirty="0">
                  <a:solidFill>
                    <a:srgbClr val="000000"/>
                  </a:solidFill>
                  <a:latin typeface="Noto Serif Medium" pitchFamily="34" charset="0"/>
                  <a:ea typeface="Noto Serif Medium" pitchFamily="34" charset="-122"/>
                  <a:cs typeface="Noto Serif Medium" pitchFamily="34" charset="-120"/>
                </a:rPr>
                <a:t>3</a:t>
              </a:r>
              <a:endParaRPr lang="en-US" sz="1300" dirty="0"/>
            </a:p>
          </p:txBody>
        </p:sp>
      </p:grpSp>
      <p:sp>
        <p:nvSpPr>
          <p:cNvPr id="26" name="Text 23"/>
          <p:cNvSpPr/>
          <p:nvPr/>
        </p:nvSpPr>
        <p:spPr>
          <a:xfrm>
            <a:off x="9125795" y="605151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Fontes de Receita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674337" y="6698396"/>
            <a:ext cx="2073606" cy="26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API e cobrança por consulta.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674337" y="6388277"/>
            <a:ext cx="522303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Serviços de IA generativa.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676912" y="6980857"/>
            <a:ext cx="2445637" cy="167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Consultoria e suporte tecnológico.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2575166" y="5591922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2617730" y="5648416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993962" y="602644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Canais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279458" y="6698396"/>
            <a:ext cx="2214284" cy="203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Online </a:t>
            </a:r>
            <a:r>
              <a:rPr lang="en-US" sz="1050" dirty="0" err="1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plataforma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285854" y="6379682"/>
            <a:ext cx="2833775" cy="203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Presencial (via hubs e atendimento pontual).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3711752-AA26-43CF-83FA-BBB63FB15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98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460</Words>
  <Application>Microsoft Office PowerPoint</Application>
  <PresentationFormat>Personalizar</PresentationFormat>
  <Paragraphs>75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Noto Serif</vt:lpstr>
      <vt:lpstr>Noto Serif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24026460</cp:lastModifiedBy>
  <cp:revision>9</cp:revision>
  <dcterms:created xsi:type="dcterms:W3CDTF">2025-11-08T00:25:11Z</dcterms:created>
  <dcterms:modified xsi:type="dcterms:W3CDTF">2025-11-10T23:43:05Z</dcterms:modified>
</cp:coreProperties>
</file>