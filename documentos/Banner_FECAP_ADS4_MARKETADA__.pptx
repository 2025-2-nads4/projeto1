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-624" y="-7560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1" y="0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Anderson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Yavi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; Gabriel Pires; Isabela Nunes; </a:t>
            </a:r>
            <a:r>
              <a:rPr lang="pt-BR" sz="3733" b="1">
                <a:ea typeface="ＭＳ Ｐゴシック" pitchFamily="34" charset="-128"/>
                <a:cs typeface="Times New Roman" pitchFamily="18" charset="0"/>
              </a:rPr>
              <a:t>Kaique 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Neres; Luiz Felipe Galdino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607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258888" eaLnBrk="1" hangingPunct="1"/>
            <a:r>
              <a:rPr lang="pt-BR" sz="3733" b="1" dirty="0">
                <a:ea typeface="ＭＳ Ｐゴシック" pitchFamily="34" charset="-128"/>
              </a:rPr>
              <a:t> </a:t>
            </a:r>
            <a:r>
              <a:rPr lang="pt-BR" sz="2800" b="1" dirty="0" err="1">
                <a:ea typeface="ＭＳ Ｐゴシック" pitchFamily="34" charset="-128"/>
              </a:rPr>
              <a:t>Marketada</a:t>
            </a:r>
            <a:r>
              <a:rPr lang="pt-BR" sz="2800" b="1" dirty="0">
                <a:ea typeface="ＭＳ Ｐゴシック" pitchFamily="34" charset="-128"/>
              </a:rPr>
              <a:t> - Onde a Criatividade Encontra o Código:</a:t>
            </a:r>
          </a:p>
          <a:p>
            <a:pPr algn="just" defTabSz="1258888" eaLnBrk="1" hangingPunct="1">
              <a:lnSpc>
                <a:spcPct val="150000"/>
              </a:lnSpc>
            </a:pPr>
            <a:r>
              <a:rPr lang="pt-BR" sz="2400" dirty="0"/>
              <a:t>          Cinco estudantes de Análise e Desenvolvimento de Sistemas, cinco mentes inquietas, criativas e apaixonadas por tecnologia. Unidos pela vontade de ir além, formamos o </a:t>
            </a:r>
            <a:r>
              <a:rPr lang="pt-BR" sz="2400" dirty="0" err="1"/>
              <a:t>Marketada</a:t>
            </a:r>
            <a:r>
              <a:rPr lang="pt-BR" sz="2400" dirty="0"/>
              <a:t>, nome que nasceu da mistura entre estratégia, inovação e, claro, aquela pitada de ousadia que não pode faltar. Somos extrovertidos, pensamos fora da caixa e acreditamos que cada código pode contar uma história. Nosso grupo é feito de ideias que se transformam em projetos, risadas que viram soluções e sonhos que ganham forma em cada linha de programação. Se tem desafio, a </a:t>
            </a:r>
            <a:r>
              <a:rPr lang="pt-BR" sz="2400" dirty="0" err="1"/>
              <a:t>Marketada</a:t>
            </a:r>
            <a:r>
              <a:rPr lang="pt-BR" sz="2400" dirty="0"/>
              <a:t> aparece e quando chega, marca presença.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CALOGIC  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497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lnSpc>
                <a:spcPct val="150000"/>
              </a:lnSpc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          </a:t>
            </a:r>
            <a:r>
              <a:rPr lang="pt-BR" sz="2400" dirty="0"/>
              <a:t>Buscamos criar uma solução que demonstre o retorno da solução da  empresa </a:t>
            </a:r>
            <a:r>
              <a:rPr lang="pt-BR" sz="2400" dirty="0" err="1"/>
              <a:t>Cannoli</a:t>
            </a:r>
            <a:r>
              <a:rPr lang="pt-BR" sz="2400" dirty="0"/>
              <a:t> que convive com uma dificuldade de provar o seu valor para seu cliente.</a:t>
            </a:r>
          </a:p>
          <a:p>
            <a:pPr algn="just" defTabSz="1678349" eaLnBrk="1" hangingPunct="1">
              <a:lnSpc>
                <a:spcPct val="150000"/>
              </a:lnSpc>
              <a:spcAft>
                <a:spcPts val="1200"/>
              </a:spcAft>
            </a:pPr>
            <a:r>
              <a:rPr lang="pt-BR" sz="2400" dirty="0"/>
              <a:t>Buscamos responder/ demostrar que a atuação da solução da </a:t>
            </a:r>
            <a:r>
              <a:rPr lang="pt-BR" sz="2400" dirty="0" err="1"/>
              <a:t>Cannoli</a:t>
            </a:r>
            <a:r>
              <a:rPr lang="pt-BR" sz="2400" dirty="0"/>
              <a:t> gera engajamento de clientes e por consequência aumento das vendas dos restaurantes.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           A solução busca entender melhor o comportamento dos clientes e direcionar ações de marketing mais eficazes. Utilizamos a Análise RFM para medir </a:t>
            </a:r>
            <a:r>
              <a:rPr lang="pt-BR" sz="2400" dirty="0" err="1"/>
              <a:t>recência</a:t>
            </a:r>
            <a:r>
              <a:rPr lang="pt-BR" sz="2400" dirty="0"/>
              <a:t>, frequência e valor gasto, identificando o nível de engajamento de cada cliente. Com esses dados, aplicamos o algoritmo K-</a:t>
            </a:r>
            <a:r>
              <a:rPr lang="pt-BR" sz="2400" dirty="0" err="1"/>
              <a:t>Means</a:t>
            </a:r>
            <a:r>
              <a:rPr lang="pt-BR" sz="2400" dirty="0"/>
              <a:t>, que agrupou automaticamente os clientes em quatro perfis: VIP, Leais, Em Risco e Novos. Esses grupos permitem criar campanhas personalizadas, aumentando a retenção, as vendas recorrentes e a eficiência dos investimentos em marketing.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Aimar Lopes;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; Lucy Mari; Ronaldo Araujo; Edson Barbeiro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2408355" cy="307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lnSpc>
                <a:spcPct val="150000"/>
              </a:lnSpc>
            </a:pPr>
            <a:r>
              <a:rPr lang="pt-BR" sz="3600" b="1" dirty="0">
                <a:ea typeface="ＭＳ Ｐゴシック" pitchFamily="34" charset="-128"/>
              </a:rPr>
              <a:t>          </a:t>
            </a:r>
            <a:r>
              <a:rPr lang="pt-BR" sz="2400" dirty="0"/>
              <a:t>O futuro do projeto contempla uma série de melhorias e inovações pensadas para ampliar seu impacto. Entre elas a implementação de um </a:t>
            </a:r>
            <a:r>
              <a:rPr lang="pt-BR" sz="2400" dirty="0" err="1"/>
              <a:t>chatbot</a:t>
            </a:r>
            <a:r>
              <a:rPr lang="pt-BR" sz="2400" dirty="0"/>
              <a:t> que responda à questões sobre campanhas e as sugira de forma automática e implementação de app mobile em IOS e Android.</a:t>
            </a:r>
            <a:endParaRPr lang="pt-BR" sz="2666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F1356FB8-9ED6-A85E-476B-90F186519F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59061" y="17890472"/>
            <a:ext cx="13981846" cy="6507770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B738E67A-B274-5DF8-B9F3-9D3786D351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054" y="13240541"/>
            <a:ext cx="12127670" cy="5760000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8E652B56-3614-D555-14EB-CF7818249A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522" y="26722038"/>
            <a:ext cx="12194735" cy="5774641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B9591974-087D-8CB2-9488-DC83918AB8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367" y="20146089"/>
            <a:ext cx="12182890" cy="5585278"/>
          </a:xfrm>
          <a:prstGeom prst="rect">
            <a:avLst/>
          </a:prstGeom>
        </p:spPr>
      </p:pic>
      <p:pic>
        <p:nvPicPr>
          <p:cNvPr id="4099" name="Imagem 4098">
            <a:extLst>
              <a:ext uri="{FF2B5EF4-FFF2-40B4-BE49-F238E27FC236}">
                <a16:creationId xmlns:a16="http://schemas.microsoft.com/office/drawing/2014/main" id="{DC769455-D84B-7CDB-9BC7-563FFA1CD8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59060" y="25958955"/>
            <a:ext cx="13981847" cy="6615704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59EEA908-FB5B-270D-70E6-EE85806BD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708" y="39666837"/>
            <a:ext cx="216039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58888" eaLnBrk="1" hangingPunct="1"/>
            <a:r>
              <a:rPr lang="pt-BR" sz="2800" b="1" dirty="0">
                <a:ea typeface="ＭＳ Ｐゴシック" pitchFamily="34" charset="-128"/>
              </a:rPr>
              <a:t>Apoio:</a:t>
            </a:r>
          </a:p>
          <a:p>
            <a:pPr algn="just" defTabSz="1258888" eaLnBrk="1" hangingPunct="1">
              <a:spcAft>
                <a:spcPts val="900"/>
              </a:spcAft>
            </a:pPr>
            <a:r>
              <a:rPr lang="pt-BR" sz="2800" dirty="0"/>
              <a:t> </a:t>
            </a:r>
            <a:r>
              <a:rPr lang="pt-BR" sz="2000" dirty="0"/>
              <a:t>	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689059F-9581-2F30-01A5-8B363378E5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9341" y="40260194"/>
            <a:ext cx="19779438" cy="125327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EB97EF0-FF30-4404-15EB-4B5243BC2C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73938" y="40260194"/>
            <a:ext cx="1429848" cy="125327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3A9D61C-A53F-9F27-C062-348B0F0DC0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4077" y="12112180"/>
            <a:ext cx="2257740" cy="628738"/>
          </a:xfrm>
          <a:prstGeom prst="rect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8DF927B-84C4-BB47-90A6-0ECB59E69A4B}"/>
              </a:ext>
            </a:extLst>
          </p:cNvPr>
          <p:cNvGrpSpPr/>
          <p:nvPr/>
        </p:nvGrpSpPr>
        <p:grpSpPr>
          <a:xfrm>
            <a:off x="17136083" y="12582567"/>
            <a:ext cx="8318991" cy="4093986"/>
            <a:chOff x="15729788" y="12885860"/>
            <a:chExt cx="8318991" cy="4093986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36539B3-03B4-9E15-C22B-94F5A2E54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729788" y="16182754"/>
              <a:ext cx="2651482" cy="739763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F265727C-35EA-9DFA-0973-7707DC71E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868581" y="13158980"/>
              <a:ext cx="2390002" cy="1345310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004D8512-6DEA-0B0B-63E3-A7017472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405276" y="12885860"/>
              <a:ext cx="1678276" cy="1865525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31366770-2457-D40F-603F-BB4428389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795994" y="13158980"/>
              <a:ext cx="2252785" cy="1267191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D783549-32E2-3701-9536-85EC637BA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198940" y="15756532"/>
              <a:ext cx="2090947" cy="1223314"/>
            </a:xfrm>
            <a:prstGeom prst="rect">
              <a:avLst/>
            </a:prstGeom>
          </p:spPr>
        </p:pic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88EB6790-BC68-4D03-02D0-22C0E27D5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021303" y="15817874"/>
              <a:ext cx="1802165" cy="1109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Props1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580D08-C850-4D98-9BB0-6190D1509D8A}">
  <ds:schemaRefs>
    <ds:schemaRef ds:uri="http://schemas.microsoft.com/office/2006/documentManagement/types"/>
    <ds:schemaRef ds:uri="http://purl.org/dc/dcmitype/"/>
    <ds:schemaRef ds:uri="http://purl.org/dc/terms/"/>
    <ds:schemaRef ds:uri="8ca2a57e-8138-4b57-956a-eb6e2c7049cc"/>
    <ds:schemaRef ds:uri="http://schemas.microsoft.com/office/2006/metadata/properties"/>
    <ds:schemaRef ds:uri="1d2798d9-1030-4cc5-be7b-200f9e628651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987</TotalTime>
  <Words>372</Words>
  <Application>Microsoft Office PowerPoint</Application>
  <PresentationFormat>Personalizar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Times New Roman</vt:lpstr>
      <vt:lpstr>Design padrão</vt:lpstr>
      <vt:lpstr>CALOGIC 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Kaique Neres de Oliveira</cp:lastModifiedBy>
  <cp:revision>59</cp:revision>
  <dcterms:created xsi:type="dcterms:W3CDTF">2006-11-04T15:46:42Z</dcterms:created>
  <dcterms:modified xsi:type="dcterms:W3CDTF">2025-11-03T23:21:05Z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